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4"/>
  </p:notes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58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2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alphaModFix amt="60000"/>
          </a:blip>
          <a:srcRect/>
          <a:stretch>
            <a:fillRect t="-12222" b="-12222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651000" y="292608"/>
            <a:ext cx="8890000" cy="4599432"/>
          </a:xfrm>
          <a:prstGeom prst="roundRect">
            <a:avLst>
              <a:gd name="adj" fmla="val 216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4800" b="0" i="0" u="none" strike="noStrike" dirty="0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Simple Mood Predictor</a:t>
            </a:r>
          </a:p>
          <a:p>
            <a:pPr indent="0" algn="ctr">
              <a:lnSpc>
                <a:spcPct val="125000"/>
              </a:lnSpc>
            </a:pPr>
            <a:r>
              <a:rPr lang="en-US" sz="2400" b="0" i="0" u="none" strike="noStrike" dirty="0">
                <a:solidFill>
                  <a:srgbClr val="374151"/>
                </a:solidFill>
                <a:latin typeface="Inter Regular"/>
                <a:ea typeface="Inter Regular"/>
                <a:cs typeface="Inter Regular"/>
                <a:sym typeface="Inter Regular"/>
              </a:rPr>
              <a:t>A simple Python program that predicts your mood.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2660904"/>
            <a:ext cx="12192000" cy="381609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dirty="0">
                <a:solidFill>
                  <a:srgbClr val="1F2937"/>
                </a:solidFill>
                <a:latin typeface="Inter Regular"/>
                <a:ea typeface="Inter Regular"/>
                <a:cs typeface="Inter Regular"/>
                <a:sym typeface="Inter Regular"/>
              </a:rPr>
              <a:t>By: Mike Maeda</a:t>
            </a:r>
            <a:endParaRPr lang="en-US" sz="2000" dirty="0"/>
          </a:p>
          <a:p>
            <a:pPr indent="0" algn="ctr">
              <a:lnSpc>
                <a:spcPct val="125000"/>
              </a:lnSpc>
            </a:pPr>
            <a:r>
              <a:rPr lang="en-US" sz="2000" b="0" i="0" u="none" strike="noStrike" dirty="0">
                <a:solidFill>
                  <a:srgbClr val="4B5563"/>
                </a:solidFill>
                <a:latin typeface="Inter Regular"/>
                <a:ea typeface="Inter Regular"/>
                <a:cs typeface="Inter Regular"/>
                <a:sym typeface="Inter Regular"/>
              </a:rPr>
              <a:t>December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0" i="0" u="none" strike="noStrike" dirty="0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Project Overview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154168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381000" tIns="381000" rIns="38100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 dirty="0">
                <a:solidFill>
                  <a:schemeClr val="accent1"/>
                </a:solidFill>
                <a:latin typeface="Inter Bold"/>
                <a:ea typeface="Inter Bold"/>
                <a:cs typeface="Inter Bold"/>
                <a:sym typeface="Inter Bold"/>
              </a:rPr>
              <a:t>Core Functionality</a:t>
            </a:r>
            <a:endParaRPr lang="en-US" sz="2000" dirty="0">
              <a:solidFill>
                <a:schemeClr val="accent1"/>
              </a:solidFill>
            </a:endParaRPr>
          </a:p>
          <a:p>
            <a:pPr marL="203200" indent="-203200" algn="l">
              <a:lnSpc>
                <a:spcPct val="125000"/>
              </a:lnSpc>
              <a:buClr>
                <a:srgbClr val="374151"/>
              </a:buClr>
              <a:buChar char="•"/>
            </a:pPr>
            <a:r>
              <a:rPr lang="en-US" sz="2000" b="0" i="0" u="none" strike="noStrike" dirty="0">
                <a:solidFill>
                  <a:srgbClr val="374151"/>
                </a:solidFill>
                <a:latin typeface="Inter Regular"/>
                <a:ea typeface="Inter Regular"/>
                <a:cs typeface="Inter Regular"/>
                <a:sym typeface="Inter Regular"/>
              </a:rPr>
              <a:t>User creates or loads a profile</a:t>
            </a:r>
          </a:p>
          <a:p>
            <a:pPr marL="203200" indent="-203200" algn="l">
              <a:lnSpc>
                <a:spcPct val="125000"/>
              </a:lnSpc>
              <a:buClr>
                <a:srgbClr val="374151"/>
              </a:buClr>
              <a:buChar char="•"/>
            </a:pPr>
            <a:r>
              <a:rPr lang="en-US" sz="2000" b="0" i="0" u="none" strike="noStrike" dirty="0">
                <a:solidFill>
                  <a:srgbClr val="374151"/>
                </a:solidFill>
                <a:latin typeface="Inter Regular"/>
                <a:ea typeface="Inter Regular"/>
                <a:cs typeface="Inter Regular"/>
                <a:sym typeface="Inter Regular"/>
              </a:rPr>
              <a:t>User answers 5 questions (Scale 1–10)</a:t>
            </a:r>
          </a:p>
          <a:p>
            <a:pPr marL="203200" indent="-203200" algn="l">
              <a:lnSpc>
                <a:spcPct val="125000"/>
              </a:lnSpc>
              <a:buClr>
                <a:srgbClr val="374151"/>
              </a:buClr>
              <a:buChar char="•"/>
            </a:pPr>
            <a:r>
              <a:rPr lang="en-US" sz="2000" b="0" i="0" u="none" strike="noStrike" dirty="0">
                <a:solidFill>
                  <a:srgbClr val="374151"/>
                </a:solidFill>
                <a:latin typeface="Inter Regular"/>
                <a:ea typeface="Inter Regular"/>
                <a:cs typeface="Inter Regular"/>
                <a:sym typeface="Inter Regular"/>
              </a:rPr>
              <a:t>Program predicts mood: happy, sad, stressed, angry, calm, neutral</a:t>
            </a:r>
          </a:p>
          <a:p>
            <a:pPr marL="203200" indent="-203200" algn="l">
              <a:lnSpc>
                <a:spcPct val="125000"/>
              </a:lnSpc>
              <a:buClr>
                <a:srgbClr val="374151"/>
              </a:buClr>
              <a:buChar char="•"/>
            </a:pPr>
            <a:r>
              <a:rPr lang="en-US" sz="2000" b="0" i="0" u="none" strike="noStrike" dirty="0">
                <a:solidFill>
                  <a:srgbClr val="374151"/>
                </a:solidFill>
                <a:latin typeface="Inter Regular"/>
                <a:ea typeface="Inter Regular"/>
                <a:cs typeface="Inter Regular"/>
                <a:sym typeface="Inter Regular"/>
              </a:rPr>
              <a:t>Results saved to Downloads</a:t>
            </a:r>
          </a:p>
          <a:p>
            <a:pPr indent="0" algn="l">
              <a:lnSpc>
                <a:spcPct val="125000"/>
              </a:lnSpc>
            </a:pPr>
            <a:r>
              <a:rPr lang="en-US" sz="2000" b="0" i="0" u="none" strike="noStrike" dirty="0">
                <a:solidFill>
                  <a:schemeClr val="accent1"/>
                </a:solidFill>
                <a:latin typeface="Inter Bold"/>
                <a:ea typeface="Inter Bold"/>
                <a:cs typeface="Inter Bold"/>
                <a:sym typeface="Inter Bold"/>
              </a:rPr>
              <a:t>Purpose</a:t>
            </a:r>
          </a:p>
          <a:p>
            <a:pPr indent="0" algn="l">
              <a:lnSpc>
                <a:spcPct val="125000"/>
              </a:lnSpc>
            </a:pPr>
            <a:r>
              <a:rPr lang="en-US" sz="2000" b="0" i="0" u="none" strike="noStrike" dirty="0">
                <a:solidFill>
                  <a:srgbClr val="374151"/>
                </a:solidFill>
                <a:latin typeface="Inter Regular"/>
                <a:ea typeface="Inter Regular"/>
                <a:cs typeface="Inter Regular"/>
                <a:sym typeface="Inter Regular"/>
              </a:rPr>
              <a:t>Practice Python fundamentals in a useful, real-world project.</a:t>
            </a:r>
          </a:p>
        </p:txBody>
      </p:sp>
      <p:pic>
        <p:nvPicPr>
          <p:cNvPr id="6" name="Picture 5" descr="A colorful meter with different faces&#10;&#10;AI-generated content may be incorrect.">
            <a:extLst>
              <a:ext uri="{FF2B5EF4-FFF2-40B4-BE49-F238E27FC236}">
                <a16:creationId xmlns:a16="http://schemas.microsoft.com/office/drawing/2014/main" id="{7EE603A1-4DAA-2110-C300-0F2B8B334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938528"/>
            <a:ext cx="5089273" cy="33284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Program Flow Overview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0000"/>
          </a:blip>
          <a:srcRect t="14" b="14"/>
          <a:stretch>
            <a:fillRect/>
          </a:stretch>
        </p:blipFill>
        <p:spPr>
          <a:xfrm>
            <a:off x="91440" y="38100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1270000" y="1524000"/>
            <a:ext cx="2540000" cy="762000"/>
          </a:xfrm>
          <a:prstGeom prst="roundRect">
            <a:avLst>
              <a:gd name="adj" fmla="val 33333"/>
            </a:avLst>
          </a:prstGeom>
          <a:solidFill>
            <a:srgbClr val="EEF2FF">
              <a:alpha val="100000"/>
            </a:srgbClr>
          </a:solidFill>
          <a:ln w="25400" cap="flat" cmpd="sng">
            <a:solidFill>
              <a:srgbClr val="6EA8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Start: User Profile</a:t>
            </a:r>
            <a:endParaRPr lang="en-US" sz="1800" dirty="0"/>
          </a:p>
        </p:txBody>
      </p:sp>
      <p:cxnSp>
        <p:nvCxnSpPr>
          <p:cNvPr id="5" name="Connector 5"/>
          <p:cNvCxnSpPr/>
          <p:nvPr/>
        </p:nvCxnSpPr>
        <p:spPr>
          <a:xfrm rot="-68745">
            <a:off x="3809428" y="18986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triangle" w="med" len="med"/>
          </a:ln>
        </p:spPr>
      </p:cxnSp>
      <p:sp>
        <p:nvSpPr>
          <p:cNvPr id="6" name="AutoShape 6"/>
          <p:cNvSpPr/>
          <p:nvPr/>
        </p:nvSpPr>
        <p:spPr>
          <a:xfrm>
            <a:off x="4445000" y="1524000"/>
            <a:ext cx="2540000" cy="762000"/>
          </a:xfrm>
          <a:prstGeom prst="roundRect">
            <a:avLst>
              <a:gd name="adj" fmla="val 33333"/>
            </a:avLst>
          </a:prstGeom>
          <a:solidFill>
            <a:srgbClr val="EEF2FF">
              <a:alpha val="100000"/>
            </a:srgbClr>
          </a:solidFill>
          <a:ln w="25400" cap="flat" cmpd="sng">
            <a:solidFill>
              <a:srgbClr val="6EA8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Ask 5 Questions</a:t>
            </a:r>
            <a:endParaRPr lang="en-US" sz="1800" dirty="0"/>
          </a:p>
        </p:txBody>
      </p:sp>
      <p:cxnSp>
        <p:nvCxnSpPr>
          <p:cNvPr id="7" name="Connector 7"/>
          <p:cNvCxnSpPr/>
          <p:nvPr/>
        </p:nvCxnSpPr>
        <p:spPr>
          <a:xfrm rot="-68745">
            <a:off x="6984428" y="18986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triangle" w="med" len="med"/>
          </a:ln>
        </p:spPr>
      </p:cxnSp>
      <p:sp>
        <p:nvSpPr>
          <p:cNvPr id="8" name="AutoShape 8"/>
          <p:cNvSpPr/>
          <p:nvPr/>
        </p:nvSpPr>
        <p:spPr>
          <a:xfrm>
            <a:off x="7620000" y="1524000"/>
            <a:ext cx="2540000" cy="762000"/>
          </a:xfrm>
          <a:prstGeom prst="roundRect">
            <a:avLst>
              <a:gd name="adj" fmla="val 33333"/>
            </a:avLst>
          </a:prstGeom>
          <a:solidFill>
            <a:srgbClr val="EEF2FF">
              <a:alpha val="100000"/>
            </a:srgbClr>
          </a:solidFill>
          <a:ln w="25400" cap="flat" cmpd="sng">
            <a:solidFill>
              <a:srgbClr val="A78BFA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Predict Mood</a:t>
            </a:r>
            <a:endParaRPr lang="en-US" sz="1800" dirty="0"/>
          </a:p>
        </p:txBody>
      </p:sp>
      <p:cxnSp>
        <p:nvCxnSpPr>
          <p:cNvPr id="9" name="Connector 9"/>
          <p:cNvCxnSpPr/>
          <p:nvPr/>
        </p:nvCxnSpPr>
        <p:spPr>
          <a:xfrm rot="5342709">
            <a:off x="8509000" y="2660068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triangle" w="med" len="med"/>
          </a:ln>
        </p:spPr>
      </p:cxnSp>
      <p:sp>
        <p:nvSpPr>
          <p:cNvPr id="10" name="AutoShape 10"/>
          <p:cNvSpPr/>
          <p:nvPr/>
        </p:nvSpPr>
        <p:spPr>
          <a:xfrm>
            <a:off x="7620000" y="3048000"/>
            <a:ext cx="2540000" cy="762000"/>
          </a:xfrm>
          <a:prstGeom prst="roundRect">
            <a:avLst>
              <a:gd name="adj" fmla="val 33333"/>
            </a:avLst>
          </a:prstGeom>
          <a:solidFill>
            <a:srgbClr val="EEF2FF">
              <a:alpha val="100000"/>
            </a:srgbClr>
          </a:solidFill>
          <a:ln w="25400" cap="flat" cmpd="sng">
            <a:solidFill>
              <a:srgbClr val="A78BFA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Save Results</a:t>
            </a:r>
            <a:endParaRPr lang="en-US" sz="1800" dirty="0"/>
          </a:p>
        </p:txBody>
      </p:sp>
      <p:cxnSp>
        <p:nvCxnSpPr>
          <p:cNvPr id="11" name="Connector 11"/>
          <p:cNvCxnSpPr/>
          <p:nvPr/>
        </p:nvCxnSpPr>
        <p:spPr>
          <a:xfrm rot="10731254">
            <a:off x="6985572" y="34226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triangle" w="med" len="med"/>
          </a:ln>
        </p:spPr>
      </p:cxnSp>
      <p:sp>
        <p:nvSpPr>
          <p:cNvPr id="12" name="AutoShape 12"/>
          <p:cNvSpPr/>
          <p:nvPr/>
        </p:nvSpPr>
        <p:spPr>
          <a:xfrm>
            <a:off x="4445000" y="3048000"/>
            <a:ext cx="2540000" cy="762000"/>
          </a:xfrm>
          <a:prstGeom prst="roundRect">
            <a:avLst>
              <a:gd name="adj" fmla="val 33333"/>
            </a:avLst>
          </a:prstGeom>
          <a:solidFill>
            <a:srgbClr val="EEF2FF">
              <a:alpha val="100000"/>
            </a:srgbClr>
          </a:solidFill>
          <a:ln w="25400" cap="flat" cmpd="sng">
            <a:solidFill>
              <a:srgbClr val="A78BFA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Auto-Open File</a:t>
            </a:r>
            <a:endParaRPr lang="en-US" sz="1800" dirty="0"/>
          </a:p>
        </p:txBody>
      </p:sp>
      <p:cxnSp>
        <p:nvCxnSpPr>
          <p:cNvPr id="13" name="Connector 13"/>
          <p:cNvCxnSpPr/>
          <p:nvPr/>
        </p:nvCxnSpPr>
        <p:spPr>
          <a:xfrm rot="10731254">
            <a:off x="3810572" y="34226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triangle" w="med" len="med"/>
          </a:ln>
        </p:spPr>
      </p:cxnSp>
      <p:sp>
        <p:nvSpPr>
          <p:cNvPr id="14" name="AutoShape 14"/>
          <p:cNvSpPr/>
          <p:nvPr/>
        </p:nvSpPr>
        <p:spPr>
          <a:xfrm>
            <a:off x="1270000" y="3048000"/>
            <a:ext cx="2540000" cy="762000"/>
          </a:xfrm>
          <a:prstGeom prst="roundRect">
            <a:avLst>
              <a:gd name="adj" fmla="val 33333"/>
            </a:avLst>
          </a:prstGeom>
          <a:solidFill>
            <a:srgbClr val="F3F4F6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dash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Menu / Exit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The Five Mood Questions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6B7280"/>
                </a:solidFill>
                <a:latin typeface="Inter Regular"/>
                <a:ea typeface="Inter Regular"/>
                <a:cs typeface="Inter Regular"/>
                <a:sym typeface="Inter Regular"/>
              </a:rPr>
              <a:t>Inputs on a scale of 1–10</a:t>
            </a:r>
          </a:p>
        </p:txBody>
      </p:sp>
      <p:sp>
        <p:nvSpPr>
          <p:cNvPr id="3" name="AutoShape 3"/>
          <p:cNvSpPr/>
          <p:nvPr/>
        </p:nvSpPr>
        <p:spPr>
          <a:xfrm>
            <a:off x="1270000" y="1651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6EA8FE"/>
                </a:solidFill>
                <a:latin typeface="Inter Bold"/>
                <a:ea typeface="Inter Bold"/>
                <a:cs typeface="Inter Bold"/>
                <a:sym typeface="Inter Bold"/>
              </a:rPr>
              <a:t>Energy ⚡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4064000" y="1778000"/>
            <a:ext cx="6350000" cy="254000"/>
          </a:xfrm>
          <a:prstGeom prst="roundRect">
            <a:avLst>
              <a:gd name="adj" fmla="val 5000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064000" y="1778000"/>
            <a:ext cx="4445000" cy="254000"/>
          </a:xfrm>
          <a:prstGeom prst="roundRect">
            <a:avLst>
              <a:gd name="adj" fmla="val 50000"/>
            </a:avLst>
          </a:prstGeom>
          <a:solidFill>
            <a:srgbClr val="6EA8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70000" y="2413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A78BFA"/>
                </a:solidFill>
                <a:latin typeface="Inter Bold"/>
                <a:ea typeface="Inter Bold"/>
                <a:cs typeface="Inter Bold"/>
                <a:sym typeface="Inter Bold"/>
              </a:rPr>
              <a:t>Positivity ☀️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064000" y="2540000"/>
            <a:ext cx="6350000" cy="254000"/>
          </a:xfrm>
          <a:prstGeom prst="roundRect">
            <a:avLst>
              <a:gd name="adj" fmla="val 5000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064000" y="2540000"/>
            <a:ext cx="5080000" cy="254000"/>
          </a:xfrm>
          <a:prstGeom prst="roundRect">
            <a:avLst>
              <a:gd name="adj" fmla="val 5000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270000" y="3175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87171"/>
                </a:solidFill>
                <a:latin typeface="Inter Bold"/>
                <a:ea typeface="Inter Bold"/>
                <a:cs typeface="Inter Bold"/>
                <a:sym typeface="Inter Bold"/>
              </a:rPr>
              <a:t>Stress 😫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064000" y="3302000"/>
            <a:ext cx="6350000" cy="254000"/>
          </a:xfrm>
          <a:prstGeom prst="roundRect">
            <a:avLst>
              <a:gd name="adj" fmla="val 5000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064000" y="3302000"/>
            <a:ext cx="3175000" cy="254000"/>
          </a:xfrm>
          <a:prstGeom prst="roundRect">
            <a:avLst>
              <a:gd name="adj" fmla="val 50000"/>
            </a:avLst>
          </a:prstGeom>
          <a:solidFill>
            <a:srgbClr val="F8717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270000" y="3937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4D399"/>
                </a:solidFill>
                <a:latin typeface="Inter Bold"/>
                <a:ea typeface="Inter Bold"/>
                <a:cs typeface="Inter Bold"/>
                <a:sym typeface="Inter Bold"/>
              </a:rPr>
              <a:t>Connection 🤝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064000" y="4064000"/>
            <a:ext cx="6350000" cy="254000"/>
          </a:xfrm>
          <a:prstGeom prst="roundRect">
            <a:avLst>
              <a:gd name="adj" fmla="val 5000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064000" y="4064000"/>
            <a:ext cx="5715000" cy="254000"/>
          </a:xfrm>
          <a:prstGeom prst="roundRect">
            <a:avLst>
              <a:gd name="adj" fmla="val 5000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270000" y="4699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BBF24"/>
                </a:solidFill>
                <a:latin typeface="Inter Bold"/>
                <a:ea typeface="Inter Bold"/>
                <a:cs typeface="Inter Bold"/>
                <a:sym typeface="Inter Bold"/>
              </a:rPr>
              <a:t>Control 🧘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064000" y="4826000"/>
            <a:ext cx="6350000" cy="254000"/>
          </a:xfrm>
          <a:prstGeom prst="roundRect">
            <a:avLst>
              <a:gd name="adj" fmla="val 5000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064000" y="4826000"/>
            <a:ext cx="3810000" cy="254000"/>
          </a:xfrm>
          <a:prstGeom prst="roundRect">
            <a:avLst>
              <a:gd name="adj" fmla="val 50000"/>
            </a:avLst>
          </a:prstGeom>
          <a:solidFill>
            <a:srgbClr val="FBBF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0" i="0" u="none" strike="noStrike" dirty="0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Mood Prediction Rules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1270000" y="1524000"/>
            <a:ext cx="4572000" cy="889000"/>
          </a:xfrm>
          <a:prstGeom prst="roundRect">
            <a:avLst>
              <a:gd name="adj" fmla="val 11428"/>
            </a:avLst>
          </a:prstGeom>
          <a:solidFill>
            <a:srgbClr val="EEF2FF">
              <a:alpha val="100000"/>
            </a:srgbClr>
          </a:solidFill>
          <a:ln w="12700" cap="flat" cmpd="sng">
            <a:solidFill>
              <a:srgbClr val="6EA8FE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Inter Regular"/>
                <a:ea typeface="Inter Regular"/>
                <a:cs typeface="Inter Regular"/>
                <a:sym typeface="Inter Regular"/>
              </a:rPr>
              <a:t>High Positivity + Low Stress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6EA8FE"/>
                </a:solidFill>
                <a:latin typeface="Inter Bold"/>
                <a:ea typeface="Inter Bold"/>
                <a:cs typeface="Inter Bold"/>
                <a:sym typeface="Inter Bold"/>
              </a:rPr>
              <a:t>→ Happy 😄</a:t>
            </a:r>
          </a:p>
        </p:txBody>
      </p:sp>
      <p:sp>
        <p:nvSpPr>
          <p:cNvPr id="4" name="AutoShape 4"/>
          <p:cNvSpPr/>
          <p:nvPr/>
        </p:nvSpPr>
        <p:spPr>
          <a:xfrm>
            <a:off x="6350000" y="1524000"/>
            <a:ext cx="4572000" cy="889000"/>
          </a:xfrm>
          <a:prstGeom prst="roundRect">
            <a:avLst>
              <a:gd name="adj" fmla="val 11428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F87171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Inter Regular"/>
                <a:ea typeface="Inter Regular"/>
                <a:cs typeface="Inter Regular"/>
                <a:sym typeface="Inter Regular"/>
              </a:rPr>
              <a:t>High Stress + Low Control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F87171"/>
                </a:solidFill>
                <a:latin typeface="Inter Bold"/>
                <a:ea typeface="Inter Bold"/>
                <a:cs typeface="Inter Bold"/>
                <a:sym typeface="Inter Bold"/>
              </a:rPr>
              <a:t>→ Stressed 😫</a:t>
            </a:r>
          </a:p>
        </p:txBody>
      </p:sp>
      <p:sp>
        <p:nvSpPr>
          <p:cNvPr id="5" name="AutoShape 5"/>
          <p:cNvSpPr/>
          <p:nvPr/>
        </p:nvSpPr>
        <p:spPr>
          <a:xfrm>
            <a:off x="1270000" y="2667000"/>
            <a:ext cx="4572000" cy="889000"/>
          </a:xfrm>
          <a:prstGeom prst="roundRect">
            <a:avLst>
              <a:gd name="adj" fmla="val 11428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6B7280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Inter Regular"/>
                <a:ea typeface="Inter Regular"/>
                <a:cs typeface="Inter Regular"/>
                <a:sym typeface="Inter Regular"/>
              </a:rPr>
              <a:t>Low Valence + Low Energy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4B5563"/>
                </a:solidFill>
                <a:latin typeface="Inter Bold"/>
                <a:ea typeface="Inter Bold"/>
                <a:cs typeface="Inter Bold"/>
                <a:sym typeface="Inter Bold"/>
              </a:rPr>
              <a:t>→ Sad 😢</a:t>
            </a:r>
          </a:p>
        </p:txBody>
      </p:sp>
      <p:sp>
        <p:nvSpPr>
          <p:cNvPr id="6" name="AutoShape 6"/>
          <p:cNvSpPr/>
          <p:nvPr/>
        </p:nvSpPr>
        <p:spPr>
          <a:xfrm>
            <a:off x="6350000" y="2667000"/>
            <a:ext cx="4572000" cy="889000"/>
          </a:xfrm>
          <a:prstGeom prst="roundRect">
            <a:avLst>
              <a:gd name="adj" fmla="val 11428"/>
            </a:avLst>
          </a:prstGeom>
          <a:solidFill>
            <a:srgbClr val="FEFCE8">
              <a:alpha val="100000"/>
            </a:srgbClr>
          </a:solidFill>
          <a:ln w="12700" cap="flat" cmpd="sng">
            <a:solidFill>
              <a:srgbClr val="EAB308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Inter Regular"/>
                <a:ea typeface="Inter Regular"/>
                <a:cs typeface="Inter Regular"/>
                <a:sym typeface="Inter Regular"/>
              </a:rPr>
              <a:t>High Stress + Low Valence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EAB308"/>
                </a:solidFill>
                <a:latin typeface="Inter Bold"/>
                <a:ea typeface="Inter Bold"/>
                <a:cs typeface="Inter Bold"/>
                <a:sym typeface="Inter Bold"/>
              </a:rPr>
              <a:t>→ Angry 😠</a:t>
            </a:r>
          </a:p>
        </p:txBody>
      </p:sp>
      <p:sp>
        <p:nvSpPr>
          <p:cNvPr id="7" name="AutoShape 7"/>
          <p:cNvSpPr/>
          <p:nvPr/>
        </p:nvSpPr>
        <p:spPr>
          <a:xfrm>
            <a:off x="1270000" y="3810000"/>
            <a:ext cx="4572000" cy="889000"/>
          </a:xfrm>
          <a:prstGeom prst="roundRect">
            <a:avLst>
              <a:gd name="adj" fmla="val 11428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34D399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Inter Regular"/>
                <a:ea typeface="Inter Regular"/>
                <a:cs typeface="Inter Regular"/>
                <a:sym typeface="Inter Regular"/>
              </a:rPr>
              <a:t>Low Stress + High Control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34D399"/>
                </a:solidFill>
                <a:latin typeface="Inter Bold"/>
                <a:ea typeface="Inter Bold"/>
                <a:cs typeface="Inter Bold"/>
                <a:sym typeface="Inter Bold"/>
              </a:rPr>
              <a:t>→ Calm 😌</a:t>
            </a:r>
          </a:p>
        </p:txBody>
      </p:sp>
      <p:sp>
        <p:nvSpPr>
          <p:cNvPr id="8" name="AutoShape 8"/>
          <p:cNvSpPr/>
          <p:nvPr/>
        </p:nvSpPr>
        <p:spPr>
          <a:xfrm>
            <a:off x="6350000" y="3810000"/>
            <a:ext cx="4572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Inter Regular"/>
                <a:ea typeface="Inter Regular"/>
                <a:cs typeface="Inter Regular"/>
                <a:sym typeface="Inter Regular"/>
              </a:rPr>
              <a:t>Otherwise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→ Neutral 😐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l="12500" r="12500"/>
          <a:stretch>
            <a:fillRect/>
          </a:stretch>
        </p:blipFill>
        <p:spPr>
          <a:xfrm>
            <a:off x="10795000" y="381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30000"/>
          </a:blip>
          <a:srcRect t="7812" b="7812"/>
          <a:stretch>
            <a:fillRect/>
          </a:stretch>
        </p:blipFill>
        <p:spPr>
          <a:xfrm>
            <a:off x="9144" y="9144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0" i="0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File Storage System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809974" y="2159000"/>
            <a:ext cx="2540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809974" y="1952752"/>
            <a:ext cx="2540000" cy="508000"/>
          </a:xfrm>
          <a:prstGeom prst="roundRect">
            <a:avLst>
              <a:gd name="adj" fmla="val 0"/>
            </a:avLst>
          </a:prstGeom>
          <a:solidFill>
            <a:srgbClr val="6EA8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2032000" y="2032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Mike_mood.txt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2032000" y="2667000"/>
            <a:ext cx="228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2023-10-25 14:30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 dirty="0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Scores: [8, 7, 2, 9, 8]</a:t>
            </a: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 dirty="0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Mood: Hapy</a:t>
            </a: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 dirty="0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Note: Good coding session!</a:t>
            </a:r>
          </a:p>
        </p:txBody>
      </p:sp>
      <p:sp>
        <p:nvSpPr>
          <p:cNvPr id="8" name="AutoShape 8"/>
          <p:cNvSpPr/>
          <p:nvPr/>
        </p:nvSpPr>
        <p:spPr>
          <a:xfrm>
            <a:off x="5715000" y="1905000"/>
            <a:ext cx="5715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A78BFA"/>
                </a:solidFill>
                <a:latin typeface="Inter Bold"/>
                <a:ea typeface="Inter Bold"/>
                <a:cs typeface="Inter Bold"/>
                <a:sym typeface="Inter Bold"/>
              </a:rPr>
              <a:t>How it works:</a:t>
            </a:r>
            <a:endParaRPr lang="en-US" sz="1100"/>
          </a:p>
          <a:p>
            <a:pPr marL="228600" indent="-228600" algn="l">
              <a:lnSpc>
                <a:spcPct val="125000"/>
              </a:lnSpc>
              <a:buClr>
                <a:srgbClr val="E5E7EB"/>
              </a:buClr>
              <a:buChar char="•"/>
            </a:pPr>
            <a:r>
              <a:rPr lang="en-US" sz="1800" b="0" i="0" u="none" strike="noStrike">
                <a:solidFill>
                  <a:srgbClr val="E5E7EB"/>
                </a:solidFill>
                <a:latin typeface="Inter Regular"/>
                <a:ea typeface="Inter Regular"/>
                <a:cs typeface="Inter Regular"/>
                <a:sym typeface="Inter Regular"/>
              </a:rPr>
              <a:t>Each user gets a dedicated text file</a:t>
            </a:r>
          </a:p>
          <a:p>
            <a:pPr marL="228600" indent="-228600" algn="l">
              <a:lnSpc>
                <a:spcPct val="125000"/>
              </a:lnSpc>
              <a:buClr>
                <a:srgbClr val="E5E7EB"/>
              </a:buClr>
              <a:buChar char="•"/>
            </a:pPr>
            <a:r>
              <a:rPr lang="en-US" sz="1800" b="0" i="0" u="none" strike="noStrike">
                <a:solidFill>
                  <a:srgbClr val="E5E7EB"/>
                </a:solidFill>
                <a:latin typeface="Inter Regular"/>
                <a:ea typeface="Inter Regular"/>
                <a:cs typeface="Inter Regular"/>
                <a:sym typeface="Inter Regular"/>
              </a:rPr>
              <a:t>Saved directly toDownloadsfolder</a:t>
            </a:r>
          </a:p>
          <a:p>
            <a:pPr marL="228600" indent="-228600" algn="l">
              <a:lnSpc>
                <a:spcPct val="125000"/>
              </a:lnSpc>
              <a:buClr>
                <a:srgbClr val="E5E7EB"/>
              </a:buClr>
              <a:buChar char="•"/>
            </a:pPr>
            <a:r>
              <a:rPr lang="en-US" sz="1800" b="0" i="0" u="none" strike="noStrike">
                <a:solidFill>
                  <a:srgbClr val="E5E7EB"/>
                </a:solidFill>
                <a:latin typeface="Inter Regular"/>
                <a:ea typeface="Inter Regular"/>
                <a:cs typeface="Inter Regular"/>
                <a:sym typeface="Inter Regular"/>
              </a:rPr>
              <a:t>Format: &lt;username&gt;_mood.txt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A87ED7-8AA3-5857-84A6-8020A5DD4B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041" y="3549552"/>
            <a:ext cx="4349974" cy="19114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Example Output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651000" y="1524000"/>
            <a:ext cx="88900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D1D5DB">
                <a:alpha val="100000"/>
              </a:srgbClr>
            </a:solidFill>
            <a:prstDash val="dash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9CA3AF"/>
                </a:solidFill>
                <a:latin typeface="Inter Regular"/>
                <a:ea typeface="Inter Regular"/>
                <a:cs typeface="Inter Regular"/>
                <a:sym typeface="Inter Regular"/>
              </a:rPr>
              <a:t>[ Screenshot of output text file ]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651000" y="6096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Inter Regular"/>
                <a:ea typeface="Inter Regular"/>
                <a:cs typeface="Inter Regular"/>
                <a:sym typeface="Inter Regular"/>
              </a:rPr>
              <a:t>Example mood history entry generated by the program.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10000"/>
          </a:blip>
          <a:srcRect t="14" b="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E10DD7-0BBE-2633-7B07-6A569E0FB7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76" r="285" b="7072"/>
          <a:stretch>
            <a:fillRect/>
          </a:stretch>
        </p:blipFill>
        <p:spPr>
          <a:xfrm>
            <a:off x="1889877" y="2304211"/>
            <a:ext cx="8412245" cy="25146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10000"/>
          </a:blip>
          <a:srcRect t="14" b="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0" i="0" u="none" strike="noStrike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Challenges Solved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762000"/>
          </a:xfrm>
          <a:prstGeom prst="roundRect">
            <a:avLst>
              <a:gd name="adj" fmla="val 13333"/>
            </a:avLst>
          </a:prstGeom>
          <a:solidFill>
            <a:srgbClr val="EEF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✅ Validating Input</a:t>
            </a:r>
            <a:r>
              <a:rPr lang="en-US" sz="1600" b="0" i="0" u="none" strike="noStrike">
                <a:solidFill>
                  <a:srgbClr val="4B5563"/>
                </a:solidFill>
                <a:latin typeface="Inter Regular"/>
                <a:ea typeface="Inter Regular"/>
                <a:cs typeface="Inter Regular"/>
                <a:sym typeface="Inter Regular"/>
              </a:rPr>
              <a:t>- Ensuring only numbers 1–10 are accepted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10668000" cy="762000"/>
          </a:xfrm>
          <a:prstGeom prst="roundRect">
            <a:avLst>
              <a:gd name="adj" fmla="val 13333"/>
            </a:avLst>
          </a:prstGeom>
          <a:solidFill>
            <a:srgbClr val="EEF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✅ Error Handling</a:t>
            </a:r>
            <a:r>
              <a:rPr lang="en-US" sz="1600" b="0" i="0" u="none" strike="noStrike">
                <a:solidFill>
                  <a:srgbClr val="4B5563"/>
                </a:solidFill>
                <a:latin typeface="Inter Regular"/>
                <a:ea typeface="Inter Regular"/>
                <a:cs typeface="Inter Regular"/>
                <a:sym typeface="Inter Regular"/>
              </a:rPr>
              <a:t>- Managing missing user profiles gracefully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556000"/>
            <a:ext cx="10668000" cy="762000"/>
          </a:xfrm>
          <a:prstGeom prst="roundRect">
            <a:avLst>
              <a:gd name="adj" fmla="val 13333"/>
            </a:avLst>
          </a:prstGeom>
          <a:solidFill>
            <a:srgbClr val="EEF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✅ File Safety</a:t>
            </a:r>
            <a:r>
              <a:rPr lang="en-US" sz="1600" b="0" i="0" u="none" strike="noStrike">
                <a:solidFill>
                  <a:srgbClr val="4B5563"/>
                </a:solidFill>
                <a:latin typeface="Inter Regular"/>
                <a:ea typeface="Inter Regular"/>
                <a:cs typeface="Inter Regular"/>
                <a:sym typeface="Inter Regular"/>
              </a:rPr>
              <a:t>- Creating safe file names from usernames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0" i="0" u="none" strike="noStrike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Concepts Learned in Class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35152" y="1651000"/>
            <a:ext cx="3302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6EA8FE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Input/Output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input(), print()</a:t>
            </a:r>
          </a:p>
        </p:txBody>
      </p:sp>
      <p:sp>
        <p:nvSpPr>
          <p:cNvPr id="4" name="AutoShape 4"/>
          <p:cNvSpPr/>
          <p:nvPr/>
        </p:nvSpPr>
        <p:spPr>
          <a:xfrm>
            <a:off x="4445000" y="1651000"/>
            <a:ext cx="3302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6EA8FE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Control Flow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If/elif/else</a:t>
            </a:r>
          </a:p>
        </p:txBody>
      </p:sp>
      <p:sp>
        <p:nvSpPr>
          <p:cNvPr id="5" name="AutoShape 5"/>
          <p:cNvSpPr/>
          <p:nvPr/>
        </p:nvSpPr>
        <p:spPr>
          <a:xfrm>
            <a:off x="8128000" y="1651000"/>
            <a:ext cx="3302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6EA8FE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Loops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 loops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3048000"/>
            <a:ext cx="3302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Modular Code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Functions</a:t>
            </a:r>
          </a:p>
        </p:txBody>
      </p:sp>
      <p:sp>
        <p:nvSpPr>
          <p:cNvPr id="7" name="AutoShape 7"/>
          <p:cNvSpPr/>
          <p:nvPr/>
        </p:nvSpPr>
        <p:spPr>
          <a:xfrm>
            <a:off x="4445000" y="3048000"/>
            <a:ext cx="3302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Data Structures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Dictionaries</a:t>
            </a:r>
          </a:p>
        </p:txBody>
      </p:sp>
      <p:sp>
        <p:nvSpPr>
          <p:cNvPr id="8" name="AutoShape 8"/>
          <p:cNvSpPr/>
          <p:nvPr/>
        </p:nvSpPr>
        <p:spPr>
          <a:xfrm>
            <a:off x="8128000" y="3048000"/>
            <a:ext cx="3302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Data Persistence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 Input/Output</a:t>
            </a:r>
          </a:p>
        </p:txBody>
      </p:sp>
      <p:sp>
        <p:nvSpPr>
          <p:cNvPr id="9" name="AutoShape 9"/>
          <p:cNvSpPr/>
          <p:nvPr/>
        </p:nvSpPr>
        <p:spPr>
          <a:xfrm>
            <a:off x="2603500" y="4445000"/>
            <a:ext cx="6985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Program Architecture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 loop structure / Menu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0" i="0" u="none" strike="noStrike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Future Improvements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270000" y="1778000"/>
            <a:ext cx="4572000" cy="1778000"/>
          </a:xfrm>
          <a:prstGeom prst="roundRect">
            <a:avLst>
              <a:gd name="adj" fmla="val 8571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📊 Visualizations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4B5563"/>
                </a:solidFill>
                <a:latin typeface="Inter Regular"/>
                <a:ea typeface="Inter Regular"/>
                <a:cs typeface="Inter Regular"/>
                <a:sym typeface="Inter Regular"/>
              </a:rPr>
              <a:t>Add graphs or mood trend charts using matplotlib.</a:t>
            </a:r>
          </a:p>
        </p:txBody>
      </p:sp>
      <p:sp>
        <p:nvSpPr>
          <p:cNvPr id="4" name="AutoShape 4"/>
          <p:cNvSpPr/>
          <p:nvPr/>
        </p:nvSpPr>
        <p:spPr>
          <a:xfrm>
            <a:off x="6350000" y="1778000"/>
            <a:ext cx="4572000" cy="1778000"/>
          </a:xfrm>
          <a:prstGeom prst="roundRect">
            <a:avLst>
              <a:gd name="adj" fmla="val 8571"/>
            </a:avLst>
          </a:prstGeom>
          <a:solidFill>
            <a:srgbClr val="F5F3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🖥️ GUI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4B5563"/>
                </a:solidFill>
                <a:latin typeface="Inter Regular"/>
                <a:ea typeface="Inter Regular"/>
                <a:cs typeface="Inter Regular"/>
                <a:sym typeface="Inter Regular"/>
              </a:rPr>
              <a:t>Implement a graphical interface using Tkinter.</a:t>
            </a:r>
          </a:p>
        </p:txBody>
      </p:sp>
      <p:sp>
        <p:nvSpPr>
          <p:cNvPr id="5" name="AutoShape 5"/>
          <p:cNvSpPr/>
          <p:nvPr/>
        </p:nvSpPr>
        <p:spPr>
          <a:xfrm>
            <a:off x="1270000" y="3810000"/>
            <a:ext cx="4572000" cy="1778000"/>
          </a:xfrm>
          <a:prstGeom prst="roundRect">
            <a:avLst>
              <a:gd name="adj" fmla="val 8571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📅 Summaries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4B5563"/>
                </a:solidFill>
                <a:latin typeface="Inter Regular"/>
                <a:ea typeface="Inter Regular"/>
                <a:cs typeface="Inter Regular"/>
                <a:sym typeface="Inter Regular"/>
              </a:rPr>
              <a:t>Generate weekly or monthly mood analysis reports.</a:t>
            </a:r>
          </a:p>
        </p:txBody>
      </p:sp>
      <p:sp>
        <p:nvSpPr>
          <p:cNvPr id="6" name="AutoShape 6"/>
          <p:cNvSpPr/>
          <p:nvPr/>
        </p:nvSpPr>
        <p:spPr>
          <a:xfrm>
            <a:off x="6350000" y="3810000"/>
            <a:ext cx="4572000" cy="1778000"/>
          </a:xfrm>
          <a:prstGeom prst="roundRect">
            <a:avLst>
              <a:gd name="adj" fmla="val 8571"/>
            </a:avLst>
          </a:prstGeom>
          <a:solidFill>
            <a:srgbClr val="FFF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🔒 Privacy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4B5563"/>
                </a:solidFill>
                <a:latin typeface="Inter Regular"/>
                <a:ea typeface="Inter Regular"/>
                <a:cs typeface="Inter Regular"/>
                <a:sym typeface="Inter Regular"/>
              </a:rPr>
              <a:t>Add encryption for sensitive user data.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alphaModFix amt="50000"/>
          </a:blip>
          <a:srcRect l="34750" r="34750"/>
          <a:stretch>
            <a:fillRect/>
          </a:stretch>
        </p:blipFill>
        <p:spPr>
          <a:xfrm>
            <a:off x="11176000" y="0"/>
            <a:ext cx="1016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40000"/>
          </a:blip>
          <a:srcRect t="14" b="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286000" y="1270000"/>
            <a:ext cx="7620000" cy="431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0" i="0" u="none" strike="noStrike" dirty="0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Conclusion</a:t>
            </a:r>
            <a:endParaRPr lang="en-US" sz="1100" dirty="0"/>
          </a:p>
          <a:p>
            <a:pPr marL="254000" indent="-254000" algn="ctr">
              <a:lnSpc>
                <a:spcPct val="125000"/>
              </a:lnSpc>
              <a:buClr>
                <a:srgbClr val="374151"/>
              </a:buClr>
              <a:buChar char="•"/>
            </a:pPr>
            <a:r>
              <a:rPr lang="en-US" sz="2000" b="0" i="0" u="none" strike="noStrike" dirty="0">
                <a:solidFill>
                  <a:srgbClr val="374151"/>
                </a:solidFill>
                <a:latin typeface="Inter Regular"/>
                <a:ea typeface="Inter Regular"/>
                <a:cs typeface="Inter Regular"/>
                <a:sym typeface="Inter Regular"/>
              </a:rPr>
              <a:t>Reliable &amp; User-friendly</a:t>
            </a:r>
          </a:p>
          <a:p>
            <a:pPr marL="254000" indent="-254000" algn="ctr">
              <a:lnSpc>
                <a:spcPct val="125000"/>
              </a:lnSpc>
              <a:buClr>
                <a:srgbClr val="374151"/>
              </a:buClr>
              <a:buChar char="•"/>
            </a:pPr>
            <a:r>
              <a:rPr lang="en-US" sz="2000" b="0" i="0" u="none" strike="noStrike" dirty="0">
                <a:solidFill>
                  <a:srgbClr val="374151"/>
                </a:solidFill>
                <a:latin typeface="Inter Regular"/>
                <a:ea typeface="Inter Regular"/>
                <a:cs typeface="Inter Regular"/>
                <a:sym typeface="Inter Regular"/>
              </a:rPr>
              <a:t>Demonstrates key Python concepts</a:t>
            </a:r>
          </a:p>
          <a:p>
            <a:pPr indent="0" algn="ctr">
              <a:lnSpc>
                <a:spcPct val="125000"/>
              </a:lnSpc>
            </a:pPr>
            <a:r>
              <a:rPr lang="en-US" sz="2800" b="0" i="0" u="none" strike="noStrike" dirty="0">
                <a:solidFill>
                  <a:srgbClr val="6EA8FE"/>
                </a:solidFill>
                <a:latin typeface="Inter Bold"/>
                <a:ea typeface="Inter Bold"/>
                <a:cs typeface="Inter Bold"/>
                <a:sym typeface="Inter Bold"/>
              </a:rPr>
              <a:t>Thank you!</a:t>
            </a:r>
          </a:p>
          <a:p>
            <a:pPr indent="0" algn="ctr">
              <a:lnSpc>
                <a:spcPct val="125000"/>
              </a:lnSpc>
            </a:pPr>
            <a:r>
              <a:rPr lang="en-US" sz="1800" b="0" i="0" u="none" strike="noStrike" dirty="0">
                <a:solidFill>
                  <a:srgbClr val="4B5563"/>
                </a:solidFill>
                <a:latin typeface="Inter Regular"/>
                <a:ea typeface="Inter Regular"/>
                <a:cs typeface="Inter Regular"/>
                <a:sym typeface="Inter Regular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</Words>
  <Application>Microsoft Office PowerPoint</Application>
  <PresentationFormat>Widescreen</PresentationFormat>
  <Paragraphs>107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Inter Bold</vt:lpstr>
      <vt:lpstr>Inter Regular</vt:lpstr>
      <vt:lpstr>JetBrains Mono</vt:lpstr>
      <vt:lpstr>Noto Sans SC</vt:lpstr>
      <vt:lpstr>Office 主题​​</vt:lpstr>
      <vt:lpstr>默认主题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Maeda, Mike H</dc:creator>
  <cp:lastModifiedBy>Maeda, Mike H</cp:lastModifiedBy>
  <cp:revision>2</cp:revision>
  <dcterms:modified xsi:type="dcterms:W3CDTF">2026-02-08T05:43:46Z</dcterms:modified>
</cp:coreProperties>
</file>